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Overview of the demographic prediction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E8EDF5"/>
          </a:solidFill>
          <a:ln w="15240">
            <a:solidFill>
              <a:srgbClr val="6B7FA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8755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Input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46120" y="96012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DFF0E6"/>
          </a:solidFill>
          <a:ln w="15240">
            <a:solidFill>
              <a:srgbClr val="4A8C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98755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Speech encoder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96012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FEF9E7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98755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Classifier heads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98280" y="960120"/>
            <a:ext cx="2240280" cy="393192"/>
          </a:xfrm>
          <a:prstGeom prst="roundRect">
            <a:avLst>
              <a:gd name="adj" fmla="val 18605"/>
            </a:avLst>
          </a:prstGeom>
          <a:solidFill>
            <a:srgbClr val="F0E8F7"/>
          </a:solidFill>
          <a:ln w="15240">
            <a:solidFill>
              <a:srgbClr val="8B6A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987552"/>
            <a:ext cx="2148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Outputs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2286000" cy="3154680"/>
          </a:xfrm>
          <a:prstGeom prst="roundRect">
            <a:avLst>
              <a:gd name="adj" fmla="val 3200"/>
            </a:avLst>
          </a:prstGeom>
          <a:solidFill>
            <a:srgbClr val="E8EDF5"/>
          </a:solidFill>
          <a:ln w="15240">
            <a:solidFill>
              <a:srgbClr val="6B7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National Speech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Corpus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speech recordings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3671464"/>
            <a:ext cx="15759" cy="-1581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1559" y="3655647"/>
            <a:ext cx="15759" cy="1975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318" y="3675397"/>
            <a:ext cx="15759" cy="-560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3076" y="3669797"/>
            <a:ext cx="15759" cy="-644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8835" y="3663356"/>
            <a:ext cx="15759" cy="-2271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4594" y="3640646"/>
            <a:ext cx="15759" cy="27073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0353" y="3667719"/>
            <a:ext cx="15759" cy="808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6112" y="3675807"/>
            <a:ext cx="15759" cy="3226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870" y="3708076"/>
            <a:ext cx="15759" cy="-4532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629" y="3662750"/>
            <a:ext cx="15759" cy="638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388" y="3669139"/>
            <a:ext cx="15759" cy="-1845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147" y="3650690"/>
            <a:ext cx="15759" cy="847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4906" y="3659161"/>
            <a:ext cx="15759" cy="3517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0665" y="3694332"/>
            <a:ext cx="15759" cy="1411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6423" y="3708445"/>
            <a:ext cx="15759" cy="-19531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2182" y="3513128"/>
            <a:ext cx="15759" cy="15924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7941" y="3672369"/>
            <a:ext cx="15759" cy="-5807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3700" y="3614292"/>
            <a:ext cx="15759" cy="1663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9459" y="3630927"/>
            <a:ext cx="15759" cy="1092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5217" y="3641855"/>
            <a:ext cx="15759" cy="138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0976" y="3643240"/>
            <a:ext cx="15759" cy="7043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735" y="3713672"/>
            <a:ext cx="15759" cy="1305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2494" y="3726724"/>
            <a:ext cx="15759" cy="-12684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8253" y="3599878"/>
            <a:ext cx="15759" cy="5993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64011" y="3605871"/>
            <a:ext cx="15759" cy="2341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9770" y="3629282"/>
            <a:ext cx="15759" cy="-2702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5529" y="3602254"/>
            <a:ext cx="15759" cy="16961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1288" y="3771873"/>
            <a:ext cx="15759" cy="-10685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27047" y="3665021"/>
            <a:ext cx="15759" cy="-6598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2805" y="3599041"/>
            <a:ext cx="15759" cy="-1754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58564" y="3581497"/>
            <a:ext cx="15759" cy="32859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74323" y="3910093"/>
            <a:ext cx="15759" cy="-755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90082" y="3902543"/>
            <a:ext cx="15759" cy="-33194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05841" y="3570597"/>
            <a:ext cx="15759" cy="4151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21599" y="3612116"/>
            <a:ext cx="15759" cy="-26015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37358" y="3351960"/>
            <a:ext cx="15759" cy="31368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53117" y="3665649"/>
            <a:ext cx="15759" cy="-6232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68876" y="3603323"/>
            <a:ext cx="15759" cy="9672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84635" y="3700052"/>
            <a:ext cx="15759" cy="-14169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00394" y="3558355"/>
            <a:ext cx="15759" cy="12810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16152" y="3686456"/>
            <a:ext cx="15759" cy="41594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331911" y="3728050"/>
            <a:ext cx="15759" cy="5456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47670" y="3782618"/>
            <a:ext cx="15759" cy="-46390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63429" y="3318714"/>
            <a:ext cx="15759" cy="49211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79188" y="3810826"/>
            <a:ext cx="15759" cy="-16198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94946" y="3648845"/>
            <a:ext cx="15759" cy="21925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10705" y="3868100"/>
            <a:ext cx="15759" cy="-3593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426464" y="3832170"/>
            <a:ext cx="15759" cy="-16814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42223" y="3664025"/>
            <a:ext cx="15759" cy="-25658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57982" y="3407440"/>
            <a:ext cx="15759" cy="-2552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73740" y="3381919"/>
            <a:ext cx="15759" cy="356644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89499" y="3738563"/>
            <a:ext cx="15759" cy="-20737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05258" y="3531193"/>
            <a:ext cx="15759" cy="10532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521017" y="3636514"/>
            <a:ext cx="15759" cy="23561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36776" y="3872124"/>
            <a:ext cx="15759" cy="-31906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52534" y="3553059"/>
            <a:ext cx="15759" cy="9414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68293" y="3647206"/>
            <a:ext cx="15759" cy="-4202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84052" y="3605179"/>
            <a:ext cx="15759" cy="-8212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99811" y="3523054"/>
            <a:ext cx="15759" cy="-5186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615570" y="3471187"/>
            <a:ext cx="15759" cy="35415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31329" y="3825344"/>
            <a:ext cx="15759" cy="3309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7087" y="3858441"/>
            <a:ext cx="15759" cy="-24378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62846" y="3614661"/>
            <a:ext cx="15759" cy="8836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78605" y="3703029"/>
            <a:ext cx="15759" cy="-24698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94364" y="3456043"/>
            <a:ext cx="15759" cy="32965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10123" y="3785699"/>
            <a:ext cx="15759" cy="-13867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725881" y="3647022"/>
            <a:ext cx="15759" cy="-1892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741640" y="3628099"/>
            <a:ext cx="15759" cy="-18654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57399" y="3609445"/>
            <a:ext cx="15759" cy="-8431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73158" y="3525126"/>
            <a:ext cx="15759" cy="13980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88917" y="3664933"/>
            <a:ext cx="15759" cy="837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04675" y="3673304"/>
            <a:ext cx="15759" cy="-4898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820434" y="3624316"/>
            <a:ext cx="15759" cy="-748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836193" y="3616834"/>
            <a:ext cx="15759" cy="33463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851952" y="3650298"/>
            <a:ext cx="15759" cy="-53112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67711" y="3597186"/>
            <a:ext cx="15759" cy="14976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83469" y="3746954"/>
            <a:ext cx="15759" cy="-5460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899228" y="3692349"/>
            <a:ext cx="15759" cy="-8188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914987" y="3610461"/>
            <a:ext cx="15759" cy="46916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30746" y="3657377"/>
            <a:ext cx="15759" cy="591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946505" y="3663287"/>
            <a:ext cx="15759" cy="-11411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962263" y="3549169"/>
            <a:ext cx="15759" cy="10398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978022" y="3653149"/>
            <a:ext cx="15759" cy="2854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993781" y="3681690"/>
            <a:ext cx="15759" cy="-40233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009540" y="3641457"/>
            <a:ext cx="15759" cy="-29485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025299" y="3611972"/>
            <a:ext cx="15759" cy="71401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041058" y="3683372"/>
            <a:ext cx="15759" cy="-60509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56816" y="3622863"/>
            <a:ext cx="15759" cy="6566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072575" y="3688523"/>
            <a:ext cx="15759" cy="-37360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088334" y="3651163"/>
            <a:ext cx="15759" cy="-27508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104093" y="3623655"/>
            <a:ext cx="15759" cy="52427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119852" y="3676081"/>
            <a:ext cx="15759" cy="-34884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135610" y="3641197"/>
            <a:ext cx="15759" cy="5463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151369" y="3646661"/>
            <a:ext cx="15759" cy="24344"/>
          </a:xfrm>
          <a:prstGeom prst="line">
            <a:avLst/>
          </a:prstGeom>
          <a:noFill/>
          <a:ln w="8255">
            <a:solidFill>
              <a:srgbClr val="1F29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46120" y="2578608"/>
            <a:ext cx="2240280" cy="1600200"/>
          </a:xfrm>
          <a:prstGeom prst="roundRect">
            <a:avLst>
              <a:gd name="adj" fmla="val 4571"/>
            </a:avLst>
          </a:prstGeom>
          <a:solidFill>
            <a:srgbClr val="DFF0E6"/>
          </a:solidFill>
          <a:ln w="15240">
            <a:solidFill>
              <a:srgbClr val="4A8C6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406140" y="29992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WavLM</a:t>
            </a:r>
            <a:endParaRPr lang="en-US" sz="2200" dirty="0"/>
          </a:p>
        </p:txBody>
      </p:sp>
      <p:sp>
        <p:nvSpPr>
          <p:cNvPr id="110" name="Text 108"/>
          <p:cNvSpPr/>
          <p:nvPr/>
        </p:nvSpPr>
        <p:spPr>
          <a:xfrm>
            <a:off x="340614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extracts frame-level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340614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representations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2560320" y="3383280"/>
            <a:ext cx="685800" cy="0"/>
          </a:xfrm>
          <a:prstGeom prst="line">
            <a:avLst/>
          </a:prstGeom>
          <a:noFill/>
          <a:ln w="1651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5486400" y="3383280"/>
            <a:ext cx="347472" cy="0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33872" y="2542032"/>
            <a:ext cx="0" cy="1700784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16752" y="2157984"/>
            <a:ext cx="2999232" cy="1444752"/>
          </a:xfrm>
          <a:prstGeom prst="roundRect">
            <a:avLst>
              <a:gd name="adj" fmla="val 5063"/>
            </a:avLst>
          </a:prstGeom>
          <a:solidFill>
            <a:srgbClr val="FEF9E7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36208" y="2368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Global-summary head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6236208" y="2624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(MLP)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6236208" y="2880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Averages across the utterance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6236208" y="3136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before classification.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6016752" y="3867912"/>
            <a:ext cx="2999232" cy="1444752"/>
          </a:xfrm>
          <a:prstGeom prst="roundRect">
            <a:avLst>
              <a:gd name="adj" fmla="val 5063"/>
            </a:avLst>
          </a:prstGeom>
          <a:solidFill>
            <a:srgbClr val="FEF9E7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36208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Sequence-based head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6236208" y="4334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(LSTM)</a:t>
            </a:r>
            <a:endParaRPr lang="en-US" sz="1400" dirty="0"/>
          </a:p>
        </p:txBody>
      </p:sp>
      <p:sp>
        <p:nvSpPr>
          <p:cNvPr id="123" name="Text 121"/>
          <p:cNvSpPr/>
          <p:nvPr/>
        </p:nvSpPr>
        <p:spPr>
          <a:xfrm>
            <a:off x="6236208" y="4590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Preserves temporal order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6236208" y="4846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before classification.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5833872" y="2542032"/>
            <a:ext cx="182880" cy="155448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5833872" y="4242816"/>
            <a:ext cx="182880" cy="347472"/>
          </a:xfrm>
          <a:prstGeom prst="line">
            <a:avLst/>
          </a:prstGeom>
          <a:noFill/>
          <a:ln w="1524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9189720" y="1673352"/>
            <a:ext cx="2240280" cy="3794760"/>
          </a:xfrm>
          <a:prstGeom prst="roundRect">
            <a:avLst>
              <a:gd name="adj" fmla="val 3265"/>
            </a:avLst>
          </a:prstGeom>
          <a:solidFill>
            <a:srgbClr val="FAF7FD"/>
          </a:solidFill>
          <a:ln w="15240">
            <a:solidFill>
              <a:srgbClr val="A88CC4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464040" y="2103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Demographic attributes</a:t>
            </a:r>
            <a:endParaRPr lang="en-US" sz="1500" dirty="0"/>
          </a:p>
        </p:txBody>
      </p:sp>
      <p:sp>
        <p:nvSpPr>
          <p:cNvPr id="129" name="Shape 127"/>
          <p:cNvSpPr/>
          <p:nvPr/>
        </p:nvSpPr>
        <p:spPr>
          <a:xfrm>
            <a:off x="9509760" y="26517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0E8F7"/>
          </a:solidFill>
          <a:ln w="13970">
            <a:solidFill>
              <a:srgbClr val="8B6AAD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555480" y="2679192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</a:t>
            </a:r>
            <a:endParaRPr lang="en-US" sz="1800" dirty="0"/>
          </a:p>
        </p:txBody>
      </p:sp>
      <p:sp>
        <p:nvSpPr>
          <p:cNvPr id="131" name="Shape 129"/>
          <p:cNvSpPr/>
          <p:nvPr/>
        </p:nvSpPr>
        <p:spPr>
          <a:xfrm>
            <a:off x="9509760" y="345643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0E8F7"/>
          </a:solidFill>
          <a:ln w="13970">
            <a:solidFill>
              <a:srgbClr val="8B6AAD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555480" y="3483864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Gender</a:t>
            </a:r>
            <a:endParaRPr lang="en-US" sz="1800" dirty="0"/>
          </a:p>
        </p:txBody>
      </p:sp>
      <p:sp>
        <p:nvSpPr>
          <p:cNvPr id="133" name="Shape 131"/>
          <p:cNvSpPr/>
          <p:nvPr/>
        </p:nvSpPr>
        <p:spPr>
          <a:xfrm>
            <a:off x="9509760" y="4261104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0E8F7"/>
          </a:solidFill>
          <a:ln w="13970">
            <a:solidFill>
              <a:srgbClr val="8B6AA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555480" y="4288536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Ethnicity</a:t>
            </a:r>
            <a:endParaRPr lang="en-US" sz="1800" dirty="0"/>
          </a:p>
        </p:txBody>
      </p:sp>
      <p:sp>
        <p:nvSpPr>
          <p:cNvPr id="135" name="Shape 133"/>
          <p:cNvSpPr/>
          <p:nvPr/>
        </p:nvSpPr>
        <p:spPr>
          <a:xfrm>
            <a:off x="9015984" y="2871216"/>
            <a:ext cx="173736" cy="54864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9015984" y="4590288"/>
            <a:ext cx="173736" cy="-109728"/>
          </a:xfrm>
          <a:prstGeom prst="line">
            <a:avLst/>
          </a:prstGeom>
          <a:noFill/>
          <a:ln w="15875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137" name="Text 135"/>
          <p:cNvSpPr/>
          <p:nvPr/>
        </p:nvSpPr>
        <p:spPr>
          <a:xfrm>
            <a:off x="1828800" y="62636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WavLM frame-level representations feed two classifier heads: a pooled MLP and a temporal LSTM.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Comparison of the two modelling approaches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094476" y="676656"/>
            <a:ext cx="0" cy="5769864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132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A.  Global-summary model (MLP)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02552" y="71323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B.  Sequence-based model (LSTM)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8056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4767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0779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5605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5371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920240" y="379476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82219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Mean Pooling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24528" y="39136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average all frames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43000" y="5065776"/>
            <a:ext cx="1892808" cy="-704088"/>
          </a:xfrm>
          <a:prstGeom prst="line">
            <a:avLst/>
          </a:prstGeom>
          <a:noFill/>
          <a:ln w="12065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103120" y="5065776"/>
            <a:ext cx="932688" cy="-704088"/>
          </a:xfrm>
          <a:prstGeom prst="line">
            <a:avLst/>
          </a:prstGeom>
          <a:noFill/>
          <a:ln w="12065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063240" y="5065776"/>
            <a:ext cx="-27432" cy="-704088"/>
          </a:xfrm>
          <a:prstGeom prst="line">
            <a:avLst/>
          </a:prstGeom>
          <a:noFill/>
          <a:ln w="12065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709160" y="5065776"/>
            <a:ext cx="-1673352" cy="-704088"/>
          </a:xfrm>
          <a:prstGeom prst="line">
            <a:avLst/>
          </a:prstGeom>
          <a:noFill/>
          <a:ln w="12065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788920" y="2825496"/>
            <a:ext cx="548640" cy="65836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2990088"/>
            <a:ext cx="54864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88920" y="3154680"/>
            <a:ext cx="54864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88920" y="3319272"/>
            <a:ext cx="54864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67328" y="3054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h̄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063240" y="3794760"/>
            <a:ext cx="0" cy="-310896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920240" y="2221992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65960" y="224942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Feedforward Layers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063240" y="2825496"/>
            <a:ext cx="0" cy="-36576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920240" y="1097280"/>
            <a:ext cx="224028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65960" y="1124712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3063240" y="2221992"/>
            <a:ext cx="0" cy="-557784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60120" y="6428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Captures global acoustic properties; discards temporal structure.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704088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4088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088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0100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0100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0100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0100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6112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96112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112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96112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07040" y="5065776"/>
            <a:ext cx="457200" cy="932688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607040" y="5298948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07040" y="5532120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07040" y="5765292"/>
            <a:ext cx="457200" cy="0"/>
          </a:xfrm>
          <a:prstGeom prst="line">
            <a:avLst/>
          </a:prstGeom>
          <a:noFill/>
          <a:ln w="11430">
            <a:solidFill>
              <a:srgbClr val="2563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1403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h1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07415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h2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03427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h3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9857232" y="56052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0680192" y="614476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757416" y="3840480"/>
            <a:ext cx="1024128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03136" y="386791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LSTM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717536" y="3840480"/>
            <a:ext cx="1024128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63256" y="386791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LSTM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677656" y="3840480"/>
            <a:ext cx="1024128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23376" y="386791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LSTM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323576" y="3840480"/>
            <a:ext cx="1024128" cy="512064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397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69296" y="3867912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LSTM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269480" y="5065776"/>
            <a:ext cx="0" cy="-713232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8229600" y="5065776"/>
            <a:ext cx="0" cy="-713232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9189720" y="5065776"/>
            <a:ext cx="0" cy="-713232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0835640" y="5065776"/>
            <a:ext cx="0" cy="-713232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9921240" y="39867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...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7269480" y="3611880"/>
            <a:ext cx="3566160" cy="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3840480"/>
            <a:ext cx="0" cy="-22860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29600" y="3840480"/>
            <a:ext cx="0" cy="-22860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189720" y="3840480"/>
            <a:ext cx="0" cy="-22860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835640" y="3840480"/>
            <a:ext cx="0" cy="-22860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80960" y="2907792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26680" y="29352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Aggregated Hidden States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9189720" y="3611880"/>
            <a:ext cx="0" cy="-137160"/>
          </a:xfrm>
          <a:prstGeom prst="line">
            <a:avLst/>
          </a:prstGeom>
          <a:noFill/>
          <a:ln w="1143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7680960" y="2221992"/>
            <a:ext cx="278892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26680" y="22494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Classification Layer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189720" y="2907792"/>
            <a:ext cx="0" cy="-118872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7909560" y="1097280"/>
            <a:ext cx="2331720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55280" y="112471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Prediction</a:t>
            </a:r>
            <a:endParaRPr lang="en-US" sz="1700" dirty="0"/>
          </a:p>
        </p:txBody>
      </p:sp>
      <p:sp>
        <p:nvSpPr>
          <p:cNvPr id="94" name="Shape 92"/>
          <p:cNvSpPr/>
          <p:nvPr/>
        </p:nvSpPr>
        <p:spPr>
          <a:xfrm>
            <a:off x="9189720" y="2221992"/>
            <a:ext cx="0" cy="-557784"/>
          </a:xfrm>
          <a:prstGeom prst="line">
            <a:avLst/>
          </a:prstGeom>
          <a:noFill/>
          <a:ln w="12700">
            <a:solidFill>
              <a:srgbClr val="B7C0CE"/>
            </a:solidFill>
            <a:prstDash val="solid"/>
            <a:headEnd type="none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7178040" y="64282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6B728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Preserves time-varying rhythmic and intonational information.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NTU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Demographic Prediction Pipeline Figures</dc:title>
  <dc:subject>Demographic prediction pipeline figures</dc:subject>
  <dc:creator>Daniel Kainovan Handoyo</dc:creator>
  <cp:lastModifiedBy>Daniel Kainovan Handoyo</cp:lastModifiedBy>
  <cp:revision>1</cp:revision>
  <dcterms:created xsi:type="dcterms:W3CDTF">2026-05-01T02:33:59Z</dcterms:created>
  <dcterms:modified xsi:type="dcterms:W3CDTF">2026-05-01T02:33:59Z</dcterms:modified>
</cp:coreProperties>
</file>